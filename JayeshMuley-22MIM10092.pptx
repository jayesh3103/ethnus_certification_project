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6" r:id="rId1"/>
  </p:sldMasterIdLst>
  <p:notesMasterIdLst>
    <p:notesMasterId r:id="rId21"/>
  </p:notesMasterIdLst>
  <p:sldIdLst>
    <p:sldId id="256" r:id="rId2"/>
    <p:sldId id="258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74" r:id="rId13"/>
    <p:sldId id="275" r:id="rId14"/>
    <p:sldId id="276" r:id="rId15"/>
    <p:sldId id="277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3"/>
    <p:restoredTop sz="94703"/>
  </p:normalViewPr>
  <p:slideViewPr>
    <p:cSldViewPr snapToGrid="0">
      <p:cViewPr varScale="1">
        <p:scale>
          <a:sx n="96" d="100"/>
          <a:sy n="96" d="100"/>
        </p:scale>
        <p:origin x="17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Title Slide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Project Name: The title of the AWS-based project.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Team Members: Names and roles of all team members.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Date: Presentation date.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197220dd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9197220ddd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Goals: Specific milestones or deliverables.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Expected Outcomes: What the project aims to achieve.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9197220ddd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4295DFAB-CA13-17F7-7401-9561C006A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197220ddd_0_24:notes">
            <a:extLst>
              <a:ext uri="{FF2B5EF4-FFF2-40B4-BE49-F238E27FC236}">
                <a16:creationId xmlns:a16="http://schemas.microsoft.com/office/drawing/2014/main" id="{5DB101DF-2288-5F2A-E2B1-60A350375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9197220ddd_0_24:notes">
            <a:extLst>
              <a:ext uri="{FF2B5EF4-FFF2-40B4-BE49-F238E27FC236}">
                <a16:creationId xmlns:a16="http://schemas.microsoft.com/office/drawing/2014/main" id="{9506A6D8-15A8-C7BC-03FC-4264DF208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Goals: Specific milestones or deliverables.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Expected Outcomes: What the project aims to achieve.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9197220ddd_0_24:notes">
            <a:extLst>
              <a:ext uri="{FF2B5EF4-FFF2-40B4-BE49-F238E27FC236}">
                <a16:creationId xmlns:a16="http://schemas.microsoft.com/office/drawing/2014/main" id="{A6D46265-D115-54EC-3BCA-B2CEF531F4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0416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9197220dd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9197220ddd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Project Scope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Statement: The project statement as provided by the instructor.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Scope Boundaries: What is and isn't covered by the project.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9197220ddd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9197220dd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29197220ddd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Individual Contributions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Member 1: Specific role and tasks performed.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Member 2: Specific role and tasks performed.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Member 3: Specific role and tasks performed.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Member 4: Specific role and tasks performed.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…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29197220ddd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9197220ddd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29197220ddd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Key Concepts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Features: Important AWS features utilized.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Services: Key AWS services employed and their significance.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29197220ddd_0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197220dd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29197220ddd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 dirty="0">
                <a:latin typeface="Arial"/>
                <a:ea typeface="Arial"/>
                <a:cs typeface="Arial"/>
                <a:sym typeface="Arial"/>
              </a:rPr>
              <a:t>Challenges and Solutions</a:t>
            </a:r>
            <a:endParaRPr sz="13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Problem 1: Description and resolution.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Problem 2: Description and resolution.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29197220ddd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9197220dd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29197220ddd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Lessons Learned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Technical Insights: What was learned technically.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Process Insights: What was learned about team collaboration.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29197220ddd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ceb41713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5ceb417138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Screen Captures: Visual snapshots to showcase key elements.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Context: Description explaining what the screenshot represents.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5ceb417138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BB2313BA-8EB8-7009-F6AB-90351AAE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ceb417138_0_35:notes">
            <a:extLst>
              <a:ext uri="{FF2B5EF4-FFF2-40B4-BE49-F238E27FC236}">
                <a16:creationId xmlns:a16="http://schemas.microsoft.com/office/drawing/2014/main" id="{8D5BB8EF-13F7-9ABA-5D74-E6DA7CFCE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5ceb417138_0_35:notes">
            <a:extLst>
              <a:ext uri="{FF2B5EF4-FFF2-40B4-BE49-F238E27FC236}">
                <a16:creationId xmlns:a16="http://schemas.microsoft.com/office/drawing/2014/main" id="{732A2B79-E321-B37B-8240-67C3FCC786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Screen Captures: Visual snapshots to showcase key elements.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Context: Description explaining what the screenshot represents.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5ceb417138_0_35:notes">
            <a:extLst>
              <a:ext uri="{FF2B5EF4-FFF2-40B4-BE49-F238E27FC236}">
                <a16:creationId xmlns:a16="http://schemas.microsoft.com/office/drawing/2014/main" id="{2256ECE9-C0CC-C1DB-376B-6BEA26710A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1537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1F42B20F-5A16-EC1C-77DB-564C1B5E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ceb417138_0_35:notes">
            <a:extLst>
              <a:ext uri="{FF2B5EF4-FFF2-40B4-BE49-F238E27FC236}">
                <a16:creationId xmlns:a16="http://schemas.microsoft.com/office/drawing/2014/main" id="{77D267C2-CE19-8377-A088-7393C179DD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5ceb417138_0_35:notes">
            <a:extLst>
              <a:ext uri="{FF2B5EF4-FFF2-40B4-BE49-F238E27FC236}">
                <a16:creationId xmlns:a16="http://schemas.microsoft.com/office/drawing/2014/main" id="{3565676F-93AE-D676-5045-2E4D28D014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Screen Captures: Visual snapshots to showcase key elements.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Context: Description explaining what the screenshot represents.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5ceb417138_0_35:notes">
            <a:extLst>
              <a:ext uri="{FF2B5EF4-FFF2-40B4-BE49-F238E27FC236}">
                <a16:creationId xmlns:a16="http://schemas.microsoft.com/office/drawing/2014/main" id="{82D0F9A8-9CEE-8C77-C3D0-6B2FD541CA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5676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9CC3C5BF-6E63-63CB-7AE2-4FC77523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ceb417138_0_35:notes">
            <a:extLst>
              <a:ext uri="{FF2B5EF4-FFF2-40B4-BE49-F238E27FC236}">
                <a16:creationId xmlns:a16="http://schemas.microsoft.com/office/drawing/2014/main" id="{2CD195EE-588B-2CD4-64EA-CD994B3E9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5ceb417138_0_35:notes">
            <a:extLst>
              <a:ext uri="{FF2B5EF4-FFF2-40B4-BE49-F238E27FC236}">
                <a16:creationId xmlns:a16="http://schemas.microsoft.com/office/drawing/2014/main" id="{D047CF0D-9B68-5D5A-4C13-FB2FFFA64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Screen Captures: Visual snapshots to showcase key elements.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Context: Description explaining what the screenshot represents.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5ceb417138_0_35:notes">
            <a:extLst>
              <a:ext uri="{FF2B5EF4-FFF2-40B4-BE49-F238E27FC236}">
                <a16:creationId xmlns:a16="http://schemas.microsoft.com/office/drawing/2014/main" id="{A8AC4F7C-FB70-07AE-0B19-14D31A3BBE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767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83C72909-9C06-B1A7-7F06-9AE22A2A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ceb417138_0_35:notes">
            <a:extLst>
              <a:ext uri="{FF2B5EF4-FFF2-40B4-BE49-F238E27FC236}">
                <a16:creationId xmlns:a16="http://schemas.microsoft.com/office/drawing/2014/main" id="{D0B92B2E-D250-FCDF-FAFD-11BBD25E2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5ceb417138_0_35:notes">
            <a:extLst>
              <a:ext uri="{FF2B5EF4-FFF2-40B4-BE49-F238E27FC236}">
                <a16:creationId xmlns:a16="http://schemas.microsoft.com/office/drawing/2014/main" id="{78E941F0-3783-BC19-9C1C-9B9607764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Screen Captures: Visual snapshots to showcase key elements.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Context: Description explaining what the screenshot represents.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5ceb417138_0_35:notes">
            <a:extLst>
              <a:ext uri="{FF2B5EF4-FFF2-40B4-BE49-F238E27FC236}">
                <a16:creationId xmlns:a16="http://schemas.microsoft.com/office/drawing/2014/main" id="{1A641D00-6B25-62BF-443E-A871DAA51C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3059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CBABCA66-55EE-F262-34A2-A785EB32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ceb417138_0_35:notes">
            <a:extLst>
              <a:ext uri="{FF2B5EF4-FFF2-40B4-BE49-F238E27FC236}">
                <a16:creationId xmlns:a16="http://schemas.microsoft.com/office/drawing/2014/main" id="{1D60DA4B-6417-16E9-7CA4-2850F3186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5ceb417138_0_35:notes">
            <a:extLst>
              <a:ext uri="{FF2B5EF4-FFF2-40B4-BE49-F238E27FC236}">
                <a16:creationId xmlns:a16="http://schemas.microsoft.com/office/drawing/2014/main" id="{8A5E9743-C9CA-9ACE-9E94-8992A3B12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Screen Captures: Visual snapshots to showcase key elements.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Context: Description explaining what the screenshot represents.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5ceb417138_0_35:notes">
            <a:extLst>
              <a:ext uri="{FF2B5EF4-FFF2-40B4-BE49-F238E27FC236}">
                <a16:creationId xmlns:a16="http://schemas.microsoft.com/office/drawing/2014/main" id="{1E7D9113-AEBC-A773-4F21-CA1CBED6AB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4738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C8181BC9-7BF4-032B-5EBB-7CE4C42F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ceb417138_0_35:notes">
            <a:extLst>
              <a:ext uri="{FF2B5EF4-FFF2-40B4-BE49-F238E27FC236}">
                <a16:creationId xmlns:a16="http://schemas.microsoft.com/office/drawing/2014/main" id="{1B57B0B6-90B5-4051-3AEC-4CC79E5E2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5ceb417138_0_35:notes">
            <a:extLst>
              <a:ext uri="{FF2B5EF4-FFF2-40B4-BE49-F238E27FC236}">
                <a16:creationId xmlns:a16="http://schemas.microsoft.com/office/drawing/2014/main" id="{F6847596-EDA9-844A-A589-75E41D019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Screen Captures: Visual snapshots to showcase key elements.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Context: Description explaining what the screenshot represents.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5ceb417138_0_35:notes">
            <a:extLst>
              <a:ext uri="{FF2B5EF4-FFF2-40B4-BE49-F238E27FC236}">
                <a16:creationId xmlns:a16="http://schemas.microsoft.com/office/drawing/2014/main" id="{069EAB28-A23E-4677-0C9F-49FAC3DE90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3007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9197220ddd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29197220ddd_0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Future Scope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Improvements: Potential updates or add-ons.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Next Steps: Future phases or expansions.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29197220ddd_0_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197220ddd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29197220ddd_0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Q&amp;A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Questions: Opening the floor for any questions from the audience.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9197220ddd_0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Thank You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Acknowledgments: Thanks to those who contributed.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Contact Info: How to reach the team for further queries.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197220ddd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29197220ddd_0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Live Demo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Demonstration: Real-time showcase of the project's functionality and features.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specific example or scenario illustrating the project in action.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9197220ddd_0_1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584579" y="0"/>
            <a:ext cx="7820167" cy="178785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3"/>
          </p:nvPr>
        </p:nvSpPr>
        <p:spPr>
          <a:xfrm>
            <a:off x="4494664" y="4237630"/>
            <a:ext cx="7697336" cy="262037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-491" y="105"/>
            <a:ext cx="12191606" cy="6858056"/>
            <a:chOff x="15811498" y="12560299"/>
            <a:chExt cx="12250408" cy="6889749"/>
          </a:xfrm>
        </p:grpSpPr>
        <p:sp>
          <p:nvSpPr>
            <p:cNvPr id="23" name="Google Shape;23;p3"/>
            <p:cNvSpPr/>
            <p:nvPr/>
          </p:nvSpPr>
          <p:spPr>
            <a:xfrm>
              <a:off x="15811498" y="14681200"/>
              <a:ext cx="12247902" cy="476884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8404"/>
                  </a:moveTo>
                  <a:lnTo>
                    <a:pt x="21600" y="0"/>
                  </a:lnTo>
                  <a:lnTo>
                    <a:pt x="19719" y="15882"/>
                  </a:lnTo>
                  <a:cubicBezTo>
                    <a:pt x="19674" y="16262"/>
                    <a:pt x="19533" y="16515"/>
                    <a:pt x="19378" y="16498"/>
                  </a:cubicBezTo>
                  <a:lnTo>
                    <a:pt x="2806" y="14369"/>
                  </a:lnTo>
                  <a:cubicBezTo>
                    <a:pt x="2730" y="14358"/>
                    <a:pt x="2659" y="14283"/>
                    <a:pt x="2600" y="14156"/>
                  </a:cubicBezTo>
                  <a:lnTo>
                    <a:pt x="0" y="8318"/>
                  </a:lnTo>
                  <a:lnTo>
                    <a:pt x="0" y="11568"/>
                  </a:lnTo>
                  <a:lnTo>
                    <a:pt x="423" y="12517"/>
                  </a:lnTo>
                  <a:cubicBezTo>
                    <a:pt x="665" y="13058"/>
                    <a:pt x="504" y="14076"/>
                    <a:pt x="184" y="14036"/>
                  </a:cubicBezTo>
                  <a:lnTo>
                    <a:pt x="0" y="14013"/>
                  </a:lnTo>
                  <a:lnTo>
                    <a:pt x="0" y="16463"/>
                  </a:lnTo>
                  <a:lnTo>
                    <a:pt x="2193" y="16745"/>
                  </a:lnTo>
                  <a:cubicBezTo>
                    <a:pt x="2269" y="16757"/>
                    <a:pt x="2341" y="16831"/>
                    <a:pt x="2399" y="16958"/>
                  </a:cubicBezTo>
                  <a:lnTo>
                    <a:pt x="4466" y="21600"/>
                  </a:lnTo>
                  <a:lnTo>
                    <a:pt x="5913" y="21600"/>
                  </a:lnTo>
                  <a:lnTo>
                    <a:pt x="4576" y="18597"/>
                  </a:lnTo>
                  <a:cubicBezTo>
                    <a:pt x="4334" y="18057"/>
                    <a:pt x="4495" y="17038"/>
                    <a:pt x="4815" y="17079"/>
                  </a:cubicBezTo>
                  <a:lnTo>
                    <a:pt x="18924" y="18891"/>
                  </a:lnTo>
                  <a:cubicBezTo>
                    <a:pt x="19143" y="18919"/>
                    <a:pt x="19293" y="19472"/>
                    <a:pt x="19230" y="20007"/>
                  </a:cubicBezTo>
                  <a:lnTo>
                    <a:pt x="19042" y="21594"/>
                  </a:lnTo>
                  <a:lnTo>
                    <a:pt x="20037" y="21594"/>
                  </a:lnTo>
                  <a:lnTo>
                    <a:pt x="20258" y="19719"/>
                  </a:lnTo>
                  <a:cubicBezTo>
                    <a:pt x="20303" y="19339"/>
                    <a:pt x="20444" y="19086"/>
                    <a:pt x="20599" y="19103"/>
                  </a:cubicBezTo>
                  <a:lnTo>
                    <a:pt x="21598" y="19230"/>
                  </a:lnTo>
                  <a:lnTo>
                    <a:pt x="21598" y="16780"/>
                  </a:lnTo>
                  <a:lnTo>
                    <a:pt x="21054" y="16711"/>
                  </a:lnTo>
                  <a:cubicBezTo>
                    <a:pt x="20834" y="16682"/>
                    <a:pt x="20684" y="16130"/>
                    <a:pt x="20747" y="15595"/>
                  </a:cubicBezTo>
                  <a:lnTo>
                    <a:pt x="21600" y="8404"/>
                  </a:lnTo>
                  <a:close/>
                </a:path>
              </a:pathLst>
            </a:custGeom>
            <a:gradFill>
              <a:gsLst>
                <a:gs pos="0">
                  <a:srgbClr val="76CEEF"/>
                </a:gs>
                <a:gs pos="100000">
                  <a:srgbClr val="1C6294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317500" dist="190500" dir="5400000" algn="t" rotWithShape="0">
                <a:srgbClr val="124163">
                  <a:alpha val="20000"/>
                </a:srgbClr>
              </a:outerShdw>
            </a:effectLst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25920698" y="12560299"/>
              <a:ext cx="2141208" cy="149731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2092"/>
                  </a:lnTo>
                  <a:lnTo>
                    <a:pt x="9506" y="0"/>
                  </a:lnTo>
                  <a:close/>
                </a:path>
              </a:pathLst>
            </a:custGeom>
            <a:gradFill>
              <a:gsLst>
                <a:gs pos="0">
                  <a:srgbClr val="76CEEF"/>
                </a:gs>
                <a:gs pos="100000">
                  <a:srgbClr val="1C6294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317500" dist="190500" dir="5400000" algn="t" rotWithShape="0">
                <a:srgbClr val="124163">
                  <a:alpha val="20000"/>
                </a:srgbClr>
              </a:outerShdw>
            </a:effectLst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31654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271850" y="6356350"/>
            <a:ext cx="5441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6785500" y="1690700"/>
            <a:ext cx="5406600" cy="513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>
              <a:spcBef>
                <a:spcPts val="12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Section 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>
            <a:spLocks noGrp="1"/>
          </p:cNvSpPr>
          <p:nvPr>
            <p:ph type="pic" idx="2"/>
          </p:nvPr>
        </p:nvSpPr>
        <p:spPr>
          <a:xfrm>
            <a:off x="7538114" y="515203"/>
            <a:ext cx="4653886" cy="582759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1850" y="1075899"/>
            <a:ext cx="6442500" cy="19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1850" y="3098517"/>
            <a:ext cx="6442500" cy="10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>
            <a:spLocks noGrp="1"/>
          </p:cNvSpPr>
          <p:nvPr>
            <p:ph type="pic" idx="2"/>
          </p:nvPr>
        </p:nvSpPr>
        <p:spPr>
          <a:xfrm>
            <a:off x="0" y="-2901"/>
            <a:ext cx="11546006" cy="339829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8200" y="3598400"/>
            <a:ext cx="7602600" cy="19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2688608" y="2762250"/>
            <a:ext cx="5855317" cy="218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4163"/>
            </a:gs>
            <a:gs pos="50000">
              <a:srgbClr val="1482AB"/>
            </a:gs>
            <a:gs pos="100000">
              <a:srgbClr val="124163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github.com/jayesh3103/Ethnus_Certification_Project" TargetMode="External"/><Relationship Id="rId7" Type="http://schemas.openxmlformats.org/officeDocument/2006/relationships/hyperlink" Target="https://hiristic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ww.linkedin.com/in/mr-jayeshmuley/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github.com/jayesh3103/Ethnus_Certification_Project" TargetMode="External"/><Relationship Id="rId7" Type="http://schemas.openxmlformats.org/officeDocument/2006/relationships/hyperlink" Target="https://hiristic.vercel.app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hyperlink" Target="https://www.linkedin.com/in/mr-jayeshmuley/" TargetMode="Externa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iristic.vercel.app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ayesh3103/Ethnus_Certification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>
            <a:spLocks noGrp="1"/>
          </p:cNvSpPr>
          <p:nvPr>
            <p:ph type="ctrTitle"/>
          </p:nvPr>
        </p:nvSpPr>
        <p:spPr>
          <a:xfrm>
            <a:off x="1524000" y="1813020"/>
            <a:ext cx="9144000" cy="13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IN" dirty="0"/>
              <a:t>Job Board: </a:t>
            </a:r>
            <a:r>
              <a:rPr lang="en-IN" b="0" i="1" dirty="0" err="1"/>
              <a:t>Hiristiq</a:t>
            </a:r>
            <a:endParaRPr lang="en-IN" i="1" dirty="0"/>
          </a:p>
        </p:txBody>
      </p:sp>
      <p:sp>
        <p:nvSpPr>
          <p:cNvPr id="116" name="Google Shape;116;p10"/>
          <p:cNvSpPr/>
          <p:nvPr/>
        </p:nvSpPr>
        <p:spPr>
          <a:xfrm>
            <a:off x="0" y="0"/>
            <a:ext cx="12192012" cy="685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12537"/>
                </a:moveTo>
                <a:lnTo>
                  <a:pt x="20240" y="12808"/>
                </a:lnTo>
                <a:cubicBezTo>
                  <a:pt x="19936" y="12868"/>
                  <a:pt x="19696" y="12354"/>
                  <a:pt x="19785" y="11833"/>
                </a:cubicBezTo>
                <a:lnTo>
                  <a:pt x="20393" y="8287"/>
                </a:lnTo>
                <a:cubicBezTo>
                  <a:pt x="20451" y="7940"/>
                  <a:pt x="20641" y="7717"/>
                  <a:pt x="20843" y="7753"/>
                </a:cubicBezTo>
                <a:lnTo>
                  <a:pt x="21472" y="7865"/>
                </a:lnTo>
                <a:cubicBezTo>
                  <a:pt x="21517" y="7873"/>
                  <a:pt x="21560" y="7869"/>
                  <a:pt x="21600" y="7853"/>
                </a:cubicBezTo>
                <a:lnTo>
                  <a:pt x="21600" y="6189"/>
                </a:lnTo>
                <a:cubicBezTo>
                  <a:pt x="21589" y="6185"/>
                  <a:pt x="21580" y="6181"/>
                  <a:pt x="21569" y="6181"/>
                </a:cubicBezTo>
                <a:lnTo>
                  <a:pt x="21293" y="6133"/>
                </a:lnTo>
                <a:cubicBezTo>
                  <a:pt x="21027" y="6086"/>
                  <a:pt x="20850" y="5616"/>
                  <a:pt x="20928" y="5158"/>
                </a:cubicBezTo>
                <a:lnTo>
                  <a:pt x="21600" y="1230"/>
                </a:lnTo>
                <a:lnTo>
                  <a:pt x="21600" y="0"/>
                </a:lnTo>
                <a:lnTo>
                  <a:pt x="20816" y="0"/>
                </a:lnTo>
                <a:lnTo>
                  <a:pt x="19913" y="5270"/>
                </a:lnTo>
                <a:cubicBezTo>
                  <a:pt x="19855" y="5616"/>
                  <a:pt x="19664" y="5839"/>
                  <a:pt x="19463" y="5803"/>
                </a:cubicBezTo>
                <a:lnTo>
                  <a:pt x="15619" y="5114"/>
                </a:lnTo>
                <a:cubicBezTo>
                  <a:pt x="15444" y="5083"/>
                  <a:pt x="15298" y="4864"/>
                  <a:pt x="15251" y="4565"/>
                </a:cubicBezTo>
                <a:lnTo>
                  <a:pt x="14534" y="0"/>
                </a:lnTo>
                <a:lnTo>
                  <a:pt x="13546" y="0"/>
                </a:lnTo>
                <a:lnTo>
                  <a:pt x="14145" y="3809"/>
                </a:lnTo>
                <a:cubicBezTo>
                  <a:pt x="14225" y="4322"/>
                  <a:pt x="13990" y="4820"/>
                  <a:pt x="13692" y="4768"/>
                </a:cubicBezTo>
                <a:lnTo>
                  <a:pt x="6591" y="3495"/>
                </a:lnTo>
                <a:cubicBezTo>
                  <a:pt x="6237" y="3431"/>
                  <a:pt x="6080" y="2671"/>
                  <a:pt x="6326" y="2217"/>
                </a:cubicBezTo>
                <a:lnTo>
                  <a:pt x="7523" y="0"/>
                </a:lnTo>
                <a:lnTo>
                  <a:pt x="6199" y="0"/>
                </a:lnTo>
                <a:lnTo>
                  <a:pt x="4657" y="2854"/>
                </a:lnTo>
                <a:cubicBezTo>
                  <a:pt x="4566" y="3021"/>
                  <a:pt x="4438" y="3108"/>
                  <a:pt x="4306" y="3085"/>
                </a:cubicBezTo>
                <a:lnTo>
                  <a:pt x="2198" y="2706"/>
                </a:lnTo>
                <a:cubicBezTo>
                  <a:pt x="2023" y="2675"/>
                  <a:pt x="1877" y="2456"/>
                  <a:pt x="1830" y="2157"/>
                </a:cubicBezTo>
                <a:lnTo>
                  <a:pt x="1492" y="0"/>
                </a:lnTo>
                <a:lnTo>
                  <a:pt x="504" y="0"/>
                </a:lnTo>
                <a:lnTo>
                  <a:pt x="724" y="1401"/>
                </a:lnTo>
                <a:cubicBezTo>
                  <a:pt x="804" y="1914"/>
                  <a:pt x="569" y="2412"/>
                  <a:pt x="271" y="2360"/>
                </a:cubicBezTo>
                <a:lnTo>
                  <a:pt x="0" y="2312"/>
                </a:lnTo>
                <a:lnTo>
                  <a:pt x="0" y="4012"/>
                </a:lnTo>
                <a:lnTo>
                  <a:pt x="880" y="4171"/>
                </a:lnTo>
                <a:cubicBezTo>
                  <a:pt x="1055" y="4203"/>
                  <a:pt x="1201" y="4422"/>
                  <a:pt x="1248" y="4720"/>
                </a:cubicBezTo>
                <a:lnTo>
                  <a:pt x="1725" y="7753"/>
                </a:lnTo>
                <a:cubicBezTo>
                  <a:pt x="1765" y="8012"/>
                  <a:pt x="1727" y="8287"/>
                  <a:pt x="1622" y="8482"/>
                </a:cubicBezTo>
                <a:lnTo>
                  <a:pt x="0" y="11487"/>
                </a:lnTo>
                <a:lnTo>
                  <a:pt x="0" y="13930"/>
                </a:lnTo>
                <a:lnTo>
                  <a:pt x="1570" y="11021"/>
                </a:lnTo>
                <a:cubicBezTo>
                  <a:pt x="1799" y="10599"/>
                  <a:pt x="2200" y="10778"/>
                  <a:pt x="2289" y="11343"/>
                </a:cubicBezTo>
                <a:lnTo>
                  <a:pt x="2919" y="15347"/>
                </a:lnTo>
                <a:cubicBezTo>
                  <a:pt x="2991" y="15797"/>
                  <a:pt x="2816" y="16251"/>
                  <a:pt x="2556" y="16302"/>
                </a:cubicBezTo>
                <a:lnTo>
                  <a:pt x="0" y="16808"/>
                </a:lnTo>
                <a:lnTo>
                  <a:pt x="0" y="18511"/>
                </a:lnTo>
                <a:lnTo>
                  <a:pt x="2953" y="17926"/>
                </a:lnTo>
                <a:cubicBezTo>
                  <a:pt x="3161" y="17887"/>
                  <a:pt x="3354" y="18117"/>
                  <a:pt x="3410" y="18476"/>
                </a:cubicBezTo>
                <a:lnTo>
                  <a:pt x="3900" y="21592"/>
                </a:lnTo>
                <a:lnTo>
                  <a:pt x="4888" y="21592"/>
                </a:lnTo>
                <a:lnTo>
                  <a:pt x="4406" y="18523"/>
                </a:lnTo>
                <a:cubicBezTo>
                  <a:pt x="4335" y="18074"/>
                  <a:pt x="4510" y="17620"/>
                  <a:pt x="4769" y="17568"/>
                </a:cubicBezTo>
                <a:lnTo>
                  <a:pt x="7265" y="17075"/>
                </a:lnTo>
                <a:cubicBezTo>
                  <a:pt x="7538" y="17019"/>
                  <a:pt x="7769" y="17437"/>
                  <a:pt x="7735" y="17922"/>
                </a:cubicBezTo>
                <a:lnTo>
                  <a:pt x="7491" y="21357"/>
                </a:lnTo>
                <a:cubicBezTo>
                  <a:pt x="7485" y="21441"/>
                  <a:pt x="7487" y="21520"/>
                  <a:pt x="7496" y="21596"/>
                </a:cubicBezTo>
                <a:lnTo>
                  <a:pt x="8434" y="21596"/>
                </a:lnTo>
                <a:cubicBezTo>
                  <a:pt x="8434" y="21588"/>
                  <a:pt x="8437" y="21580"/>
                  <a:pt x="8437" y="21568"/>
                </a:cubicBezTo>
                <a:lnTo>
                  <a:pt x="8737" y="17365"/>
                </a:lnTo>
                <a:cubicBezTo>
                  <a:pt x="8761" y="17019"/>
                  <a:pt x="8916" y="16748"/>
                  <a:pt x="9113" y="16708"/>
                </a:cubicBezTo>
                <a:lnTo>
                  <a:pt x="17624" y="15025"/>
                </a:lnTo>
                <a:cubicBezTo>
                  <a:pt x="17928" y="14965"/>
                  <a:pt x="18168" y="15479"/>
                  <a:pt x="18078" y="16000"/>
                </a:cubicBezTo>
                <a:lnTo>
                  <a:pt x="17133" y="21520"/>
                </a:lnTo>
                <a:cubicBezTo>
                  <a:pt x="17129" y="21548"/>
                  <a:pt x="17124" y="21572"/>
                  <a:pt x="17122" y="21600"/>
                </a:cubicBezTo>
                <a:lnTo>
                  <a:pt x="18114" y="21600"/>
                </a:lnTo>
                <a:lnTo>
                  <a:pt x="19214" y="15176"/>
                </a:lnTo>
                <a:cubicBezTo>
                  <a:pt x="19263" y="14886"/>
                  <a:pt x="19405" y="14679"/>
                  <a:pt x="19575" y="14643"/>
                </a:cubicBezTo>
                <a:lnTo>
                  <a:pt x="21600" y="14241"/>
                </a:lnTo>
                <a:lnTo>
                  <a:pt x="21600" y="12537"/>
                </a:lnTo>
                <a:close/>
                <a:moveTo>
                  <a:pt x="2354" y="5473"/>
                </a:moveTo>
                <a:lnTo>
                  <a:pt x="2354" y="5473"/>
                </a:lnTo>
                <a:cubicBezTo>
                  <a:pt x="2274" y="4959"/>
                  <a:pt x="2509" y="4462"/>
                  <a:pt x="2807" y="4513"/>
                </a:cubicBezTo>
                <a:lnTo>
                  <a:pt x="2807" y="4513"/>
                </a:lnTo>
                <a:cubicBezTo>
                  <a:pt x="3161" y="4577"/>
                  <a:pt x="3318" y="5337"/>
                  <a:pt x="3071" y="5791"/>
                </a:cubicBezTo>
                <a:lnTo>
                  <a:pt x="3071" y="5791"/>
                </a:lnTo>
                <a:cubicBezTo>
                  <a:pt x="2843" y="6217"/>
                  <a:pt x="2442" y="6038"/>
                  <a:pt x="2354" y="5473"/>
                </a:cubicBezTo>
                <a:close/>
                <a:moveTo>
                  <a:pt x="19378" y="8398"/>
                </a:moveTo>
                <a:lnTo>
                  <a:pt x="18650" y="12657"/>
                </a:lnTo>
                <a:cubicBezTo>
                  <a:pt x="18600" y="12947"/>
                  <a:pt x="18459" y="13154"/>
                  <a:pt x="18289" y="13190"/>
                </a:cubicBezTo>
                <a:lnTo>
                  <a:pt x="4373" y="15944"/>
                </a:lnTo>
                <a:cubicBezTo>
                  <a:pt x="4165" y="15984"/>
                  <a:pt x="3972" y="15753"/>
                  <a:pt x="3916" y="15395"/>
                </a:cubicBezTo>
                <a:lnTo>
                  <a:pt x="2919" y="9059"/>
                </a:lnTo>
                <a:cubicBezTo>
                  <a:pt x="2879" y="8800"/>
                  <a:pt x="2917" y="8525"/>
                  <a:pt x="3022" y="8330"/>
                </a:cubicBezTo>
                <a:lnTo>
                  <a:pt x="4738" y="5150"/>
                </a:lnTo>
                <a:cubicBezTo>
                  <a:pt x="4830" y="4983"/>
                  <a:pt x="4958" y="4896"/>
                  <a:pt x="5090" y="4919"/>
                </a:cubicBezTo>
                <a:lnTo>
                  <a:pt x="19017" y="7419"/>
                </a:lnTo>
                <a:cubicBezTo>
                  <a:pt x="19281" y="7475"/>
                  <a:pt x="19456" y="7944"/>
                  <a:pt x="19378" y="8398"/>
                </a:cubicBezTo>
                <a:close/>
              </a:path>
            </a:pathLst>
          </a:custGeom>
          <a:gradFill>
            <a:gsLst>
              <a:gs pos="0">
                <a:srgbClr val="76CEEF"/>
              </a:gs>
              <a:gs pos="100000">
                <a:srgbClr val="1C629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17500" dist="190500" dir="5400000" algn="t" rotWithShape="0">
              <a:srgbClr val="124163">
                <a:alpha val="20000"/>
              </a:srgbClr>
            </a:outerShdw>
          </a:effectLst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 txBox="1">
            <a:spLocks noGrp="1"/>
          </p:cNvSpPr>
          <p:nvPr>
            <p:ph type="body" idx="4294967295"/>
          </p:nvPr>
        </p:nvSpPr>
        <p:spPr>
          <a:xfrm>
            <a:off x="1085507" y="3429000"/>
            <a:ext cx="7588500" cy="941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3500" b="1" dirty="0"/>
              <a:t>Team Name: </a:t>
            </a:r>
            <a:r>
              <a:rPr lang="en-US" sz="3500" i="1" dirty="0"/>
              <a:t>Bit-Manipulator</a:t>
            </a:r>
            <a:endParaRPr sz="3500" i="1" dirty="0"/>
          </a:p>
        </p:txBody>
      </p:sp>
      <p:sp>
        <p:nvSpPr>
          <p:cNvPr id="118" name="Google Shape;118;p10"/>
          <p:cNvSpPr txBox="1">
            <a:spLocks noGrp="1"/>
          </p:cNvSpPr>
          <p:nvPr>
            <p:ph type="body" idx="4294967295"/>
          </p:nvPr>
        </p:nvSpPr>
        <p:spPr>
          <a:xfrm>
            <a:off x="5552666" y="5407800"/>
            <a:ext cx="4267200" cy="1316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lvl="0" indent="0" algn="l" rtl="0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100" b="1" dirty="0"/>
              <a:t>Team Member: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dirty="0"/>
              <a:t>Jayesh Muley [22MIM10092]</a:t>
            </a:r>
            <a:endParaRPr sz="2100" dirty="0"/>
          </a:p>
        </p:txBody>
      </p:sp>
      <p:sp>
        <p:nvSpPr>
          <p:cNvPr id="119" name="Google Shape;119;p10"/>
          <p:cNvSpPr txBox="1">
            <a:spLocks noGrp="1"/>
          </p:cNvSpPr>
          <p:nvPr>
            <p:ph type="body" idx="4294967295"/>
          </p:nvPr>
        </p:nvSpPr>
        <p:spPr>
          <a:xfrm>
            <a:off x="108974" y="6419100"/>
            <a:ext cx="3071547" cy="304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/>
              <a:t>Date: </a:t>
            </a:r>
            <a:r>
              <a:rPr lang="en-US" sz="2100" i="1" dirty="0"/>
              <a:t>December 23, 2025</a:t>
            </a:r>
            <a:endParaRPr sz="2100" i="1" dirty="0"/>
          </a:p>
        </p:txBody>
      </p:sp>
      <p:pic>
        <p:nvPicPr>
          <p:cNvPr id="2052" name="Picture 4" descr="Github Logo - Free social media icons">
            <a:hlinkClick r:id="rId3"/>
            <a:extLst>
              <a:ext uri="{FF2B5EF4-FFF2-40B4-BE49-F238E27FC236}">
                <a16:creationId xmlns:a16="http://schemas.microsoft.com/office/drawing/2014/main" id="{DCEC3A2F-63F3-8EE6-B991-593171C2E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666" y="6225678"/>
            <a:ext cx="472616" cy="472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hlinkClick r:id="rId5"/>
            <a:extLst>
              <a:ext uri="{FF2B5EF4-FFF2-40B4-BE49-F238E27FC236}">
                <a16:creationId xmlns:a16="http://schemas.microsoft.com/office/drawing/2014/main" id="{E7C2D1B1-E057-7D7A-0EDB-5C0CF9B22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709" y="6225677"/>
            <a:ext cx="472616" cy="472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hlinkClick r:id="rId7"/>
            <a:extLst>
              <a:ext uri="{FF2B5EF4-FFF2-40B4-BE49-F238E27FC236}">
                <a16:creationId xmlns:a16="http://schemas.microsoft.com/office/drawing/2014/main" id="{7C99A077-A152-64D1-0393-8AD5DDD18D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5200" y="6108152"/>
            <a:ext cx="749848" cy="749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>
            <a:spLocks noGrp="1"/>
          </p:cNvSpPr>
          <p:nvPr>
            <p:ph type="body" idx="1"/>
          </p:nvPr>
        </p:nvSpPr>
        <p:spPr>
          <a:xfrm>
            <a:off x="838200" y="1386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IN" b="1" dirty="0"/>
              <a:t>Overview:</a:t>
            </a:r>
            <a:r>
              <a:rPr lang="en-IN" dirty="0"/>
              <a:t> </a:t>
            </a:r>
            <a:r>
              <a:rPr lang="en-IN" dirty="0" err="1"/>
              <a:t>Hiristiq</a:t>
            </a:r>
            <a:r>
              <a:rPr lang="en-IN" dirty="0"/>
              <a:t> is a comprehensive full-stack Job Portal application designed to streamline the recruitment process.</a:t>
            </a:r>
          </a:p>
          <a:p>
            <a:pPr algn="just"/>
            <a:r>
              <a:rPr lang="en-IN" b="1" dirty="0"/>
              <a:t>Objective:</a:t>
            </a:r>
            <a:r>
              <a:rPr lang="en-IN" dirty="0"/>
              <a:t> To bridge the gap between talent and opportunity by providing a seamless platform for Job Seekers and Recruiters.</a:t>
            </a:r>
          </a:p>
          <a:p>
            <a:pPr algn="just"/>
            <a:r>
              <a:rPr lang="en-IN" b="1" dirty="0"/>
              <a:t>Tech Stack Base:</a:t>
            </a:r>
            <a:r>
              <a:rPr lang="en-IN" dirty="0"/>
              <a:t> Built using the MERN Stack (MongoDB, Express, React, Node.js) for robust performance and scalability.</a:t>
            </a:r>
          </a:p>
          <a:p>
            <a:pPr algn="just"/>
            <a:r>
              <a:rPr lang="en-IN" b="1" dirty="0"/>
              <a:t>Key Innovation:</a:t>
            </a:r>
            <a:r>
              <a:rPr lang="en-IN" dirty="0"/>
              <a:t> Integrates role-based access control, real-time application tracking, and a premium </a:t>
            </a:r>
            <a:r>
              <a:rPr lang="en-IN" dirty="0" err="1"/>
              <a:t>glassmorphic</a:t>
            </a:r>
            <a:r>
              <a:rPr lang="en-IN" dirty="0"/>
              <a:t> UI for superior user experience.</a:t>
            </a:r>
          </a:p>
        </p:txBody>
      </p:sp>
      <p:sp>
        <p:nvSpPr>
          <p:cNvPr id="136" name="Google Shape;1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</a:t>
            </a:r>
            <a:endParaRPr dirty="0"/>
          </a:p>
        </p:txBody>
      </p:sp>
      <p:sp>
        <p:nvSpPr>
          <p:cNvPr id="137" name="Google Shape;137;p12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E675ABA8-9EF0-9978-8B0D-99D9E2D40B5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8E52CD49-B93E-807E-97EF-014B1B67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>
            <a:extLst>
              <a:ext uri="{FF2B5EF4-FFF2-40B4-BE49-F238E27FC236}">
                <a16:creationId xmlns:a16="http://schemas.microsoft.com/office/drawing/2014/main" id="{D9E9B8A5-05A2-595F-46E3-C62BBA254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86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IN" b="1" dirty="0"/>
              <a:t>Scalable Platform:</a:t>
            </a:r>
            <a:r>
              <a:rPr lang="en-IN" dirty="0"/>
              <a:t> To develop a robust full-stack job portal that scales with user growth.</a:t>
            </a:r>
          </a:p>
          <a:p>
            <a:pPr algn="just"/>
            <a:r>
              <a:rPr lang="en-IN" b="1" dirty="0"/>
              <a:t>Role Distinction:</a:t>
            </a:r>
            <a:r>
              <a:rPr lang="en-IN" dirty="0"/>
              <a:t> To implement distinct, secure workflows for Recruiters (posting jobs) and Candidates (applying).</a:t>
            </a:r>
          </a:p>
          <a:p>
            <a:pPr algn="just"/>
            <a:r>
              <a:rPr lang="en-IN" b="1" dirty="0"/>
              <a:t>Secure Authentication:</a:t>
            </a:r>
            <a:r>
              <a:rPr lang="en-IN" dirty="0"/>
              <a:t> To ensure top-tier data privacy and user management using Clerk.</a:t>
            </a:r>
          </a:p>
          <a:p>
            <a:pPr algn="just"/>
            <a:r>
              <a:rPr lang="en-IN" b="1" dirty="0"/>
              <a:t>Enhanced UX:</a:t>
            </a:r>
            <a:r>
              <a:rPr lang="en-IN" dirty="0"/>
              <a:t> To provide a seamless, modern, and responsive user interface for better engagement.</a:t>
            </a:r>
          </a:p>
          <a:p>
            <a:pPr algn="just"/>
            <a:r>
              <a:rPr lang="en-IN" b="1" dirty="0"/>
              <a:t>Efficiency:</a:t>
            </a:r>
            <a:r>
              <a:rPr lang="en-IN" dirty="0"/>
              <a:t> To streamline the hiring process with real-time application tracking and management tools.</a:t>
            </a:r>
          </a:p>
        </p:txBody>
      </p:sp>
      <p:sp>
        <p:nvSpPr>
          <p:cNvPr id="136" name="Google Shape;136;p12">
            <a:extLst>
              <a:ext uri="{FF2B5EF4-FFF2-40B4-BE49-F238E27FC236}">
                <a16:creationId xmlns:a16="http://schemas.microsoft.com/office/drawing/2014/main" id="{E4A7724C-EE52-689F-A2F7-4CF0364B18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37" name="Google Shape;137;p12">
            <a:extLst>
              <a:ext uri="{FF2B5EF4-FFF2-40B4-BE49-F238E27FC236}">
                <a16:creationId xmlns:a16="http://schemas.microsoft.com/office/drawing/2014/main" id="{97491E31-1092-A645-A2ED-B6E3B46FB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Project Objectives</a:t>
            </a:r>
            <a:endParaRPr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C10EEF09-444C-752C-A4A7-9EA21728051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718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>
            <a:spLocks noGrp="1"/>
          </p:cNvSpPr>
          <p:nvPr>
            <p:ph type="body" idx="1"/>
          </p:nvPr>
        </p:nvSpPr>
        <p:spPr>
          <a:xfrm>
            <a:off x="838200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IN" b="1" dirty="0"/>
              <a:t>Target Audience:</a:t>
            </a:r>
            <a:r>
              <a:rPr lang="en-IN" dirty="0"/>
              <a:t> Serves two primary user groups: </a:t>
            </a:r>
          </a:p>
          <a:p>
            <a:pPr lvl="1" algn="just"/>
            <a:r>
              <a:rPr lang="en-IN" b="1" dirty="0"/>
              <a:t>Candidates</a:t>
            </a:r>
            <a:r>
              <a:rPr lang="en-IN" dirty="0"/>
              <a:t> searching for jobs and </a:t>
            </a:r>
            <a:r>
              <a:rPr lang="en-IN" b="1" dirty="0"/>
              <a:t>Recruiters</a:t>
            </a:r>
            <a:r>
              <a:rPr lang="en-IN" dirty="0"/>
              <a:t> hiring talent.</a:t>
            </a:r>
          </a:p>
          <a:p>
            <a:pPr algn="just"/>
            <a:r>
              <a:rPr lang="en-IN" b="1" dirty="0"/>
              <a:t>Key Functionalities:</a:t>
            </a:r>
            <a:endParaRPr lang="en-IN" dirty="0"/>
          </a:p>
          <a:p>
            <a:pPr lvl="1" algn="just"/>
            <a:r>
              <a:rPr lang="en-IN" b="1" dirty="0"/>
              <a:t>Recruiters:</a:t>
            </a:r>
            <a:r>
              <a:rPr lang="en-IN" dirty="0"/>
              <a:t> Post and edit jobs, view applicant profiles, and manage application statuses (Accept/Reject).</a:t>
            </a:r>
          </a:p>
          <a:p>
            <a:pPr lvl="1" algn="just"/>
            <a:r>
              <a:rPr lang="en-IN" b="1" dirty="0"/>
              <a:t>Candidates:</a:t>
            </a:r>
            <a:r>
              <a:rPr lang="en-IN" dirty="0"/>
              <a:t> Advanced job search (filter by location, role, salary), detailed job views, and one-click applications.</a:t>
            </a:r>
          </a:p>
          <a:p>
            <a:pPr algn="just"/>
            <a:r>
              <a:rPr lang="en-IN" b="1" dirty="0"/>
              <a:t>Technical Bound:</a:t>
            </a:r>
            <a:r>
              <a:rPr lang="en-IN" dirty="0"/>
              <a:t> A fully responsive web application accessible on all devices.</a:t>
            </a:r>
          </a:p>
          <a:p>
            <a:pPr algn="just"/>
            <a:r>
              <a:rPr lang="en-IN" b="1" dirty="0"/>
              <a:t>Security &amp; Integration:</a:t>
            </a:r>
            <a:r>
              <a:rPr lang="en-IN" dirty="0"/>
              <a:t> Includes secure authentication (Clerk), file handling (</a:t>
            </a:r>
            <a:r>
              <a:rPr lang="en-IN" dirty="0" err="1"/>
              <a:t>Cloudinary</a:t>
            </a:r>
            <a:r>
              <a:rPr lang="en-IN" dirty="0"/>
              <a:t>), and automated communication (Email).</a:t>
            </a:r>
            <a:br>
              <a:rPr lang="en-IN" dirty="0"/>
            </a:br>
            <a:endParaRPr dirty="0"/>
          </a:p>
        </p:txBody>
      </p:sp>
      <p:sp>
        <p:nvSpPr>
          <p:cNvPr id="145" name="Google Shape;14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Project Scope</a:t>
            </a:r>
            <a:endParaRPr dirty="0"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85E91E09-FB9F-602D-466F-B9ADFF4A62D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>
            <a:spLocks noGrp="1"/>
          </p:cNvSpPr>
          <p:nvPr>
            <p:ph type="body" idx="1"/>
          </p:nvPr>
        </p:nvSpPr>
        <p:spPr>
          <a:xfrm>
            <a:off x="838200" y="161911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b="1" dirty="0"/>
              <a:t>Jayesh Muley (Full Stack Developer &amp; Architect):</a:t>
            </a:r>
            <a:endParaRPr lang="en-IN" dirty="0"/>
          </a:p>
          <a:p>
            <a:pPr lvl="1"/>
            <a:r>
              <a:rPr lang="en-IN" b="1" dirty="0"/>
              <a:t>Frontend Development:</a:t>
            </a:r>
            <a:r>
              <a:rPr lang="en-IN" dirty="0"/>
              <a:t> Built the responsive React interface with Vite and completely custom Tailwind CSS styling.</a:t>
            </a:r>
          </a:p>
          <a:p>
            <a:pPr lvl="1"/>
            <a:r>
              <a:rPr lang="en-IN" b="1" dirty="0"/>
              <a:t>Backend Engineering:</a:t>
            </a:r>
            <a:r>
              <a:rPr lang="en-IN" dirty="0"/>
              <a:t> Developed the Node.js/Express server and RESTful APIs from scratch.</a:t>
            </a:r>
          </a:p>
          <a:p>
            <a:pPr lvl="1"/>
            <a:r>
              <a:rPr lang="en-IN" b="1" dirty="0"/>
              <a:t>Database Management:</a:t>
            </a:r>
            <a:r>
              <a:rPr lang="en-IN" dirty="0"/>
              <a:t> Designed and optimized MongoDB schemas for Users, Jobs, and Companies.</a:t>
            </a:r>
          </a:p>
          <a:p>
            <a:pPr lvl="1"/>
            <a:r>
              <a:rPr lang="en-IN" b="1" dirty="0"/>
              <a:t>Security &amp; Integration:</a:t>
            </a:r>
            <a:r>
              <a:rPr lang="en-IN" dirty="0"/>
              <a:t> Implemented Clerk authentication and </a:t>
            </a:r>
            <a:r>
              <a:rPr lang="en-IN" dirty="0" err="1"/>
              <a:t>Cloudinary</a:t>
            </a:r>
            <a:r>
              <a:rPr lang="en-IN" dirty="0"/>
              <a:t> file storage integration.</a:t>
            </a:r>
          </a:p>
          <a:p>
            <a:pPr lvl="1"/>
            <a:r>
              <a:rPr lang="en-IN" b="1" dirty="0"/>
              <a:t>UI/UX Design:</a:t>
            </a:r>
            <a:r>
              <a:rPr lang="en-IN" dirty="0"/>
              <a:t> Created the "Premium </a:t>
            </a:r>
            <a:r>
              <a:rPr lang="en-IN" dirty="0" err="1"/>
              <a:t>Glassmorphism</a:t>
            </a:r>
            <a:r>
              <a:rPr lang="en-IN" dirty="0"/>
              <a:t>" design concept and user journey flows.</a:t>
            </a:r>
          </a:p>
        </p:txBody>
      </p:sp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55" name="Google Shape;155;p14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Individual Contributions</a:t>
            </a:r>
            <a:endParaRPr dirty="0"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AB6245D5-EB72-0A38-706E-004E77FD14B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  <p:sp>
        <p:nvSpPr>
          <p:cNvPr id="3" name="Google Shape;155;p14">
            <a:extLst>
              <a:ext uri="{FF2B5EF4-FFF2-40B4-BE49-F238E27FC236}">
                <a16:creationId xmlns:a16="http://schemas.microsoft.com/office/drawing/2014/main" id="{99AABF60-3DCD-1278-F7B7-022CC4DB1D83}"/>
              </a:ext>
            </a:extLst>
          </p:cNvPr>
          <p:cNvSpPr txBox="1">
            <a:spLocks/>
          </p:cNvSpPr>
          <p:nvPr/>
        </p:nvSpPr>
        <p:spPr>
          <a:xfrm>
            <a:off x="1219200" y="7231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IN" sz="3200" i="1" dirty="0"/>
              <a:t>Solo Development &amp; Execution</a:t>
            </a:r>
            <a:endParaRPr lang="en-US" sz="20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>
            <a:spLocks noGrp="1"/>
          </p:cNvSpPr>
          <p:nvPr>
            <p:ph type="body" idx="1"/>
          </p:nvPr>
        </p:nvSpPr>
        <p:spPr>
          <a:xfrm>
            <a:off x="838200" y="1386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400" b="1" dirty="0"/>
              <a:t>React (Frontend Architecture):</a:t>
            </a:r>
            <a:endParaRPr lang="en-IN" sz="2400" dirty="0"/>
          </a:p>
          <a:p>
            <a:pPr lvl="1"/>
            <a:r>
              <a:rPr lang="en-IN" sz="2000" b="1" dirty="0"/>
              <a:t>Hooks:</a:t>
            </a:r>
            <a:r>
              <a:rPr lang="en-IN" sz="2000" dirty="0"/>
              <a:t> Leveraged </a:t>
            </a:r>
            <a:r>
              <a:rPr lang="en-IN" sz="2000" dirty="0" err="1"/>
              <a:t>useState</a:t>
            </a:r>
            <a:r>
              <a:rPr lang="en-IN" sz="2000" dirty="0"/>
              <a:t>, </a:t>
            </a:r>
            <a:r>
              <a:rPr lang="en-IN" sz="2000" dirty="0" err="1"/>
              <a:t>useEffect</a:t>
            </a:r>
            <a:r>
              <a:rPr lang="en-IN" sz="2000" dirty="0"/>
              <a:t>, and </a:t>
            </a:r>
            <a:r>
              <a:rPr lang="en-IN" sz="2000" dirty="0" err="1"/>
              <a:t>useContext</a:t>
            </a:r>
            <a:r>
              <a:rPr lang="en-IN" sz="2000" dirty="0"/>
              <a:t> for efficient state and lifecycle management.</a:t>
            </a:r>
          </a:p>
          <a:p>
            <a:pPr lvl="1"/>
            <a:r>
              <a:rPr lang="en-IN" sz="2000" b="1" dirty="0"/>
              <a:t>SPA Navigation:</a:t>
            </a:r>
            <a:r>
              <a:rPr lang="en-IN" sz="2000" dirty="0"/>
              <a:t> Implemented </a:t>
            </a:r>
            <a:r>
              <a:rPr lang="en-IN" sz="2000" b="1" dirty="0"/>
              <a:t>React Router</a:t>
            </a:r>
            <a:r>
              <a:rPr lang="en-IN" sz="2000" dirty="0"/>
              <a:t> for seamless, non-refreshing page transitions.</a:t>
            </a:r>
          </a:p>
          <a:p>
            <a:pPr lvl="1"/>
            <a:r>
              <a:rPr lang="en-IN" sz="2000" b="1" dirty="0"/>
              <a:t>Modular Components:</a:t>
            </a:r>
            <a:r>
              <a:rPr lang="en-IN" sz="2000" dirty="0"/>
              <a:t> Created reusable UI elements (Cards, Navbar, Inputs) for a maintainable codebase.</a:t>
            </a:r>
          </a:p>
          <a:p>
            <a:r>
              <a:rPr lang="en-IN" sz="2400" b="1" dirty="0"/>
              <a:t>Node.js &amp; Express (Backend Logic):</a:t>
            </a:r>
            <a:endParaRPr lang="en-IN" sz="2400" dirty="0"/>
          </a:p>
          <a:p>
            <a:pPr lvl="1"/>
            <a:r>
              <a:rPr lang="en-IN" sz="2000" b="1" dirty="0"/>
              <a:t>RESTful APIs:</a:t>
            </a:r>
            <a:r>
              <a:rPr lang="en-IN" sz="2000" dirty="0"/>
              <a:t> Designed structured endpoints for robust client-server communication.</a:t>
            </a:r>
          </a:p>
          <a:p>
            <a:pPr lvl="1"/>
            <a:r>
              <a:rPr lang="en-IN" sz="2000" b="1" dirty="0"/>
              <a:t>Middleware:</a:t>
            </a:r>
            <a:r>
              <a:rPr lang="en-IN" sz="2000" dirty="0"/>
              <a:t> Integrated custom and third-party middleware (</a:t>
            </a:r>
            <a:r>
              <a:rPr lang="en-IN" sz="2000" dirty="0" err="1"/>
              <a:t>Cors</a:t>
            </a:r>
            <a:r>
              <a:rPr lang="en-IN" sz="2000" dirty="0"/>
              <a:t>, Clerk) for security and request handling.</a:t>
            </a:r>
          </a:p>
          <a:p>
            <a:r>
              <a:rPr lang="en-IN" sz="2400" b="1" dirty="0"/>
              <a:t>MongoDB (Data Persistence):</a:t>
            </a:r>
            <a:endParaRPr lang="en-IN" sz="2400" dirty="0"/>
          </a:p>
          <a:p>
            <a:pPr lvl="1"/>
            <a:r>
              <a:rPr lang="en-IN" sz="2000" b="1" dirty="0"/>
              <a:t>Mongoose Modelling:</a:t>
            </a:r>
            <a:r>
              <a:rPr lang="en-IN" sz="2000" dirty="0"/>
              <a:t> Defined strict schemas for </a:t>
            </a:r>
            <a:r>
              <a:rPr lang="en-IN" sz="2000" b="1" dirty="0"/>
              <a:t>Jobs</a:t>
            </a:r>
            <a:r>
              <a:rPr lang="en-IN" sz="2000" dirty="0"/>
              <a:t>, </a:t>
            </a:r>
            <a:r>
              <a:rPr lang="en-IN" sz="2000" b="1" dirty="0"/>
              <a:t>Users</a:t>
            </a:r>
            <a:r>
              <a:rPr lang="en-IN" sz="2000" dirty="0"/>
              <a:t>, and </a:t>
            </a:r>
            <a:r>
              <a:rPr lang="en-IN" sz="2000" b="1" dirty="0"/>
              <a:t>Companies</a:t>
            </a:r>
            <a:r>
              <a:rPr lang="en-IN" sz="2000" dirty="0"/>
              <a:t> to ensure data integrity.</a:t>
            </a:r>
          </a:p>
        </p:txBody>
      </p:sp>
      <p:sp>
        <p:nvSpPr>
          <p:cNvPr id="163" name="Google Shape;16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Key Concepts</a:t>
            </a:r>
            <a:endParaRPr dirty="0"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01BFB9A9-C929-11DA-6476-E063C4445BA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>
            <a:spLocks noGrp="1"/>
          </p:cNvSpPr>
          <p:nvPr>
            <p:ph type="body" idx="1"/>
          </p:nvPr>
        </p:nvSpPr>
        <p:spPr>
          <a:xfrm>
            <a:off x="838200" y="1386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2000" b="1" dirty="0"/>
              <a:t>Challenge 1: Secure User Authentication</a:t>
            </a:r>
            <a:endParaRPr lang="en-IN" sz="2000" dirty="0"/>
          </a:p>
          <a:p>
            <a:pPr lvl="1"/>
            <a:r>
              <a:rPr lang="en-IN" sz="1800" b="1" dirty="0"/>
              <a:t>Description:</a:t>
            </a:r>
            <a:r>
              <a:rPr lang="en-IN" sz="1800" dirty="0"/>
              <a:t> Managing secure sessions and role-based access (Recruiters vs. Candidates) manually is complex and error-prone.</a:t>
            </a:r>
          </a:p>
          <a:p>
            <a:pPr lvl="1"/>
            <a:r>
              <a:rPr lang="en-IN" sz="1800" b="1" dirty="0"/>
              <a:t>Solution:</a:t>
            </a:r>
            <a:r>
              <a:rPr lang="en-IN" sz="1800" dirty="0"/>
              <a:t> Integrated </a:t>
            </a:r>
            <a:r>
              <a:rPr lang="en-IN" sz="1800" b="1" dirty="0"/>
              <a:t>Clerk Authentication</a:t>
            </a:r>
            <a:r>
              <a:rPr lang="en-IN" sz="1800" dirty="0"/>
              <a:t> to handle secure sign-in, session management, and user role metadata seamlessly.</a:t>
            </a:r>
          </a:p>
          <a:p>
            <a:pPr marL="114300" indent="0">
              <a:buNone/>
            </a:pPr>
            <a:r>
              <a:rPr lang="en-IN" sz="2000" b="1" dirty="0"/>
              <a:t>Challenge 2: Handling Resume Uploads</a:t>
            </a:r>
            <a:endParaRPr lang="en-IN" sz="2000" dirty="0"/>
          </a:p>
          <a:p>
            <a:pPr lvl="1"/>
            <a:r>
              <a:rPr lang="en-IN" sz="1800" b="1" dirty="0"/>
              <a:t>Description:</a:t>
            </a:r>
            <a:r>
              <a:rPr lang="en-IN" sz="1800" dirty="0"/>
              <a:t> Storing large files (resumes/images) directly in the database slows down performance.</a:t>
            </a:r>
          </a:p>
          <a:p>
            <a:pPr lvl="1"/>
            <a:r>
              <a:rPr lang="en-IN" sz="1800" b="1" dirty="0"/>
              <a:t>Solution:</a:t>
            </a:r>
            <a:r>
              <a:rPr lang="en-IN" sz="1800" dirty="0"/>
              <a:t> Implemented </a:t>
            </a:r>
            <a:r>
              <a:rPr lang="en-IN" sz="1800" b="1" dirty="0" err="1"/>
              <a:t>Cloudinary</a:t>
            </a:r>
            <a:r>
              <a:rPr lang="en-IN" sz="1800" dirty="0"/>
              <a:t> for efficient cloud-based storage, storing only the secure file URL in MongoDB.</a:t>
            </a:r>
          </a:p>
          <a:p>
            <a:pPr marL="114300" indent="0">
              <a:buNone/>
            </a:pPr>
            <a:r>
              <a:rPr lang="en-IN" sz="2000" b="1" dirty="0"/>
              <a:t>Challenge 3: Real-Time State Management</a:t>
            </a:r>
            <a:endParaRPr lang="en-IN" sz="2000" dirty="0"/>
          </a:p>
          <a:p>
            <a:pPr lvl="1"/>
            <a:r>
              <a:rPr lang="en-IN" sz="1800" b="1" dirty="0"/>
              <a:t>Description:</a:t>
            </a:r>
            <a:r>
              <a:rPr lang="en-IN" sz="1800" dirty="0"/>
              <a:t> Keeping the UI in sync when users apply for jobs or update profiles (CRUD operations).</a:t>
            </a:r>
          </a:p>
          <a:p>
            <a:pPr lvl="1"/>
            <a:r>
              <a:rPr lang="en-IN" sz="1800" b="1" dirty="0"/>
              <a:t>Solution:</a:t>
            </a:r>
            <a:r>
              <a:rPr lang="en-IN" sz="1800" dirty="0"/>
              <a:t> Utilized </a:t>
            </a:r>
            <a:r>
              <a:rPr lang="en-IN" sz="1800" b="1" dirty="0"/>
              <a:t>React Context API</a:t>
            </a:r>
            <a:r>
              <a:rPr lang="en-IN" sz="1800" dirty="0"/>
              <a:t> and </a:t>
            </a:r>
            <a:r>
              <a:rPr lang="en-IN" sz="1800" b="1" dirty="0"/>
              <a:t>Hooks</a:t>
            </a:r>
            <a:r>
              <a:rPr lang="en-IN" sz="1800" dirty="0"/>
              <a:t> to ensure instant UI updates and consistent global state across the app.</a:t>
            </a:r>
          </a:p>
        </p:txBody>
      </p:sp>
      <p:sp>
        <p:nvSpPr>
          <p:cNvPr id="172" name="Google Shape;17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Challenges and Solutions</a:t>
            </a:r>
            <a:endParaRPr dirty="0"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0D877455-3311-449A-6FB2-960998EDC66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>
            <a:spLocks noGrp="1"/>
          </p:cNvSpPr>
          <p:nvPr>
            <p:ph type="body" idx="1"/>
          </p:nvPr>
        </p:nvSpPr>
        <p:spPr>
          <a:xfrm>
            <a:off x="838200" y="1386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000" b="1" dirty="0"/>
              <a:t>Technical Insights:</a:t>
            </a:r>
            <a:endParaRPr lang="en-IN" sz="2000" dirty="0"/>
          </a:p>
          <a:p>
            <a:pPr lvl="1"/>
            <a:r>
              <a:rPr lang="en-IN" sz="1800" b="1" dirty="0"/>
              <a:t>Full-Stack Integration:</a:t>
            </a:r>
            <a:r>
              <a:rPr lang="en-IN" sz="1800" dirty="0"/>
              <a:t> Gained deep understanding of connecting a React frontend with a Node.js/Express backend and MongoDB.</a:t>
            </a:r>
          </a:p>
          <a:p>
            <a:pPr lvl="1"/>
            <a:r>
              <a:rPr lang="en-IN" sz="1800" b="1" dirty="0"/>
              <a:t>API Mastery:</a:t>
            </a:r>
            <a:r>
              <a:rPr lang="en-IN" sz="1800" dirty="0"/>
              <a:t> Learned to securely integrate key third-party services like </a:t>
            </a:r>
            <a:r>
              <a:rPr lang="en-IN" sz="1800" b="1" dirty="0"/>
              <a:t>Clerk</a:t>
            </a:r>
            <a:r>
              <a:rPr lang="en-IN" sz="1800" dirty="0"/>
              <a:t> (for Auth) and </a:t>
            </a:r>
            <a:r>
              <a:rPr lang="en-IN" sz="1800" b="1" dirty="0" err="1"/>
              <a:t>Cloudinary</a:t>
            </a:r>
            <a:r>
              <a:rPr lang="en-IN" sz="1800" dirty="0"/>
              <a:t> (for media storage).</a:t>
            </a:r>
          </a:p>
          <a:p>
            <a:pPr lvl="1"/>
            <a:r>
              <a:rPr lang="en-IN" sz="1800" b="1" dirty="0"/>
              <a:t>State Management:</a:t>
            </a:r>
            <a:r>
              <a:rPr lang="en-IN" sz="1800" dirty="0"/>
              <a:t> Mastered complex state handling in React using Context API to maintain user sessions effectively.</a:t>
            </a:r>
          </a:p>
          <a:p>
            <a:r>
              <a:rPr lang="en-IN" sz="2000" b="1" dirty="0"/>
              <a:t>Process Insights (Solo Development):</a:t>
            </a:r>
            <a:endParaRPr lang="en-IN" sz="2000" dirty="0"/>
          </a:p>
          <a:p>
            <a:pPr lvl="1"/>
            <a:r>
              <a:rPr lang="en-IN" sz="1800" b="1" dirty="0"/>
              <a:t>End-to-End Ownership:</a:t>
            </a:r>
            <a:r>
              <a:rPr lang="en-IN" sz="1800" dirty="0"/>
              <a:t> managed the entire Software Development Lifecycle (SDLC), from initial design to final debugging.</a:t>
            </a:r>
          </a:p>
          <a:p>
            <a:pPr lvl="1"/>
            <a:r>
              <a:rPr lang="en-IN" sz="1800" b="1" dirty="0"/>
              <a:t>Critical Thinking:</a:t>
            </a:r>
            <a:r>
              <a:rPr lang="en-IN" sz="1800" dirty="0"/>
              <a:t> Enhanced problem-solving skills by independently resolving cross-stack errors (e.g., CORS, DB connections).</a:t>
            </a:r>
          </a:p>
          <a:p>
            <a:pPr lvl="1"/>
            <a:r>
              <a:rPr lang="en-IN" sz="1800" b="1" dirty="0"/>
              <a:t>Prioritization:</a:t>
            </a:r>
            <a:r>
              <a:rPr lang="en-IN" sz="1800" dirty="0"/>
              <a:t> Learned the importance of focusing on Core Features (MVP) to ensure timely project delivery.</a:t>
            </a:r>
          </a:p>
        </p:txBody>
      </p:sp>
      <p:sp>
        <p:nvSpPr>
          <p:cNvPr id="181" name="Google Shape;18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Lessons Learned</a:t>
            </a:r>
            <a:endParaRPr dirty="0"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9A59558B-7F72-7524-834B-6E1B2933CD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>
            <a:spLocks noGrp="1"/>
          </p:cNvSpPr>
          <p:nvPr>
            <p:ph type="body" idx="1"/>
          </p:nvPr>
        </p:nvSpPr>
        <p:spPr>
          <a:xfrm>
            <a:off x="838200" y="5318535"/>
            <a:ext cx="10515600" cy="66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ctr">
              <a:spcBef>
                <a:spcPts val="2200"/>
              </a:spcBef>
              <a:buNone/>
            </a:pPr>
            <a:r>
              <a:rPr lang="en-IN" i="1" dirty="0"/>
              <a:t>Home Page: Landing page with job search and featured companies.</a:t>
            </a:r>
            <a:endParaRPr dirty="0"/>
          </a:p>
        </p:txBody>
      </p:sp>
      <p:sp>
        <p:nvSpPr>
          <p:cNvPr id="190" name="Google Shape;1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Screenshots</a:t>
            </a:r>
            <a:endParaRPr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661987DE-F4E7-DFD7-22AA-A3EC4FF500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5916E-6964-90DC-4612-7CDB299E3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68992"/>
            <a:ext cx="7772400" cy="43665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25DA1B26-749F-970D-805C-1FFA0779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A557BB8E-7136-5B73-B977-45CDC2EE8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5318535"/>
            <a:ext cx="10515600" cy="66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ctr">
              <a:spcBef>
                <a:spcPts val="2200"/>
              </a:spcBef>
              <a:buNone/>
            </a:pPr>
            <a:r>
              <a:rPr lang="en-IN" i="1" dirty="0"/>
              <a:t>Job Search: Advanced filtering by category, location, and role.</a:t>
            </a:r>
            <a:endParaRPr dirty="0"/>
          </a:p>
        </p:txBody>
      </p:sp>
      <p:sp>
        <p:nvSpPr>
          <p:cNvPr id="190" name="Google Shape;190;p18">
            <a:extLst>
              <a:ext uri="{FF2B5EF4-FFF2-40B4-BE49-F238E27FC236}">
                <a16:creationId xmlns:a16="http://schemas.microsoft.com/office/drawing/2014/main" id="{E4201231-D988-6111-C13B-2B4B2BE4E5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91" name="Google Shape;191;p18">
            <a:extLst>
              <a:ext uri="{FF2B5EF4-FFF2-40B4-BE49-F238E27FC236}">
                <a16:creationId xmlns:a16="http://schemas.microsoft.com/office/drawing/2014/main" id="{C5E61448-98D4-CF21-3B42-8F59A4E01A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Screenshots</a:t>
            </a:r>
            <a:endParaRPr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DA420EB9-FAD3-DA7A-7A7A-DB29332E76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A29F7-5418-D4AC-9028-A0D9A653F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63594"/>
            <a:ext cx="7772400" cy="437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08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3A4AC95-EA32-4998-16E4-F2B780D2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C64097BB-D9BB-0048-D886-06AFA8EC3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5318535"/>
            <a:ext cx="10515600" cy="66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ctr">
              <a:spcBef>
                <a:spcPts val="2200"/>
              </a:spcBef>
              <a:buNone/>
            </a:pPr>
            <a:r>
              <a:rPr lang="en-IN" i="1" dirty="0"/>
              <a:t>Job Details: Comprehensive view of job requirements and "Apply Now" action.</a:t>
            </a:r>
            <a:endParaRPr dirty="0"/>
          </a:p>
        </p:txBody>
      </p:sp>
      <p:sp>
        <p:nvSpPr>
          <p:cNvPr id="190" name="Google Shape;190;p18">
            <a:extLst>
              <a:ext uri="{FF2B5EF4-FFF2-40B4-BE49-F238E27FC236}">
                <a16:creationId xmlns:a16="http://schemas.microsoft.com/office/drawing/2014/main" id="{DCBAAE59-2D88-4B63-1D73-1E81E7AA9D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91" name="Google Shape;191;p18">
            <a:extLst>
              <a:ext uri="{FF2B5EF4-FFF2-40B4-BE49-F238E27FC236}">
                <a16:creationId xmlns:a16="http://schemas.microsoft.com/office/drawing/2014/main" id="{9595CD3F-CBF8-F86D-37A5-A5D8FF4C2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Screenshots</a:t>
            </a:r>
            <a:endParaRPr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701D7E3E-24CC-7DDA-F7D6-333E6ED09F8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D1871-8EA2-7053-0BD5-7EF082F5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58197"/>
            <a:ext cx="7772400" cy="438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13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253BBC21-DCA5-67BD-9A36-9D4B957F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3651F549-58CC-EADE-2B17-739CB70B7C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5318535"/>
            <a:ext cx="10515600" cy="66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ctr">
              <a:spcBef>
                <a:spcPts val="2200"/>
              </a:spcBef>
              <a:buNone/>
            </a:pPr>
            <a:r>
              <a:rPr lang="en-IN" i="1" dirty="0"/>
              <a:t>Authentication: Secure login and sign-up powered by Clerk.</a:t>
            </a:r>
            <a:endParaRPr dirty="0"/>
          </a:p>
        </p:txBody>
      </p:sp>
      <p:sp>
        <p:nvSpPr>
          <p:cNvPr id="190" name="Google Shape;190;p18">
            <a:extLst>
              <a:ext uri="{FF2B5EF4-FFF2-40B4-BE49-F238E27FC236}">
                <a16:creationId xmlns:a16="http://schemas.microsoft.com/office/drawing/2014/main" id="{B1C9CBD8-25F9-D444-11A2-3586416169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91" name="Google Shape;191;p18">
            <a:extLst>
              <a:ext uri="{FF2B5EF4-FFF2-40B4-BE49-F238E27FC236}">
                <a16:creationId xmlns:a16="http://schemas.microsoft.com/office/drawing/2014/main" id="{9413B866-9061-6387-2BC3-DFAB14814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Screenshots</a:t>
            </a:r>
            <a:endParaRPr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8DB8C02F-B485-7ECE-E788-B56BEA6CC26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2E378-7C85-282E-4878-D2A92C26B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63594"/>
            <a:ext cx="7772400" cy="437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46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9D7F82C5-317B-3086-8450-5F9DA114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2721BF98-0CE4-8DCD-19F0-F1E8B854F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5318535"/>
            <a:ext cx="10515600" cy="66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ctr">
              <a:spcBef>
                <a:spcPts val="2200"/>
              </a:spcBef>
              <a:buNone/>
            </a:pPr>
            <a:r>
              <a:rPr lang="en-IN" i="1" dirty="0"/>
              <a:t>Job Details: Comprehensive view of job requirements and "Apply Now" action.</a:t>
            </a:r>
            <a:endParaRPr dirty="0"/>
          </a:p>
        </p:txBody>
      </p:sp>
      <p:sp>
        <p:nvSpPr>
          <p:cNvPr id="190" name="Google Shape;190;p18">
            <a:extLst>
              <a:ext uri="{FF2B5EF4-FFF2-40B4-BE49-F238E27FC236}">
                <a16:creationId xmlns:a16="http://schemas.microsoft.com/office/drawing/2014/main" id="{CD7ED43C-315C-D250-4316-ADE9D6E192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91" name="Google Shape;191;p18">
            <a:extLst>
              <a:ext uri="{FF2B5EF4-FFF2-40B4-BE49-F238E27FC236}">
                <a16:creationId xmlns:a16="http://schemas.microsoft.com/office/drawing/2014/main" id="{2A3EC436-E540-370C-F398-0360842F2D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Screenshots</a:t>
            </a:r>
            <a:endParaRPr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4FC5934D-6F12-CF9F-1040-0998B5FBCD3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7016A-313A-82C2-D98D-DD2718AF5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66293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53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D9ED927F-343D-7C34-1844-BC3969317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7A089772-23B9-F013-B888-F41F3872D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5318535"/>
            <a:ext cx="10515600" cy="66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ctr">
              <a:spcBef>
                <a:spcPts val="2200"/>
              </a:spcBef>
              <a:buNone/>
            </a:pPr>
            <a:r>
              <a:rPr lang="en-IN" i="1" dirty="0"/>
              <a:t>Job Posting: Interface for recruiters to create new job listings.</a:t>
            </a:r>
            <a:endParaRPr dirty="0"/>
          </a:p>
        </p:txBody>
      </p:sp>
      <p:sp>
        <p:nvSpPr>
          <p:cNvPr id="190" name="Google Shape;190;p18">
            <a:extLst>
              <a:ext uri="{FF2B5EF4-FFF2-40B4-BE49-F238E27FC236}">
                <a16:creationId xmlns:a16="http://schemas.microsoft.com/office/drawing/2014/main" id="{93241E27-BC96-150F-359B-7AC37B36A9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91" name="Google Shape;191;p18">
            <a:extLst>
              <a:ext uri="{FF2B5EF4-FFF2-40B4-BE49-F238E27FC236}">
                <a16:creationId xmlns:a16="http://schemas.microsoft.com/office/drawing/2014/main" id="{61A6A6AE-D4F4-121A-A29D-3E327962A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Screenshots</a:t>
            </a:r>
            <a:endParaRPr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8B3F3341-9E3D-437D-9740-7DA7FD7B37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1BBFF-DF79-3974-2C95-041A11A19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37615"/>
            <a:ext cx="7772400" cy="438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71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423B8536-0129-EC8A-83BC-B62BDE23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CF19245A-E9F7-F2F5-5C1E-44F29EBCFA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5318535"/>
            <a:ext cx="10515600" cy="66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ctr">
              <a:spcBef>
                <a:spcPts val="2200"/>
              </a:spcBef>
              <a:buNone/>
            </a:pPr>
            <a:r>
              <a:rPr lang="en-IN" i="1" dirty="0"/>
              <a:t>Job Posting: Interface for recruiters to create new job listings.</a:t>
            </a:r>
            <a:endParaRPr dirty="0"/>
          </a:p>
        </p:txBody>
      </p:sp>
      <p:sp>
        <p:nvSpPr>
          <p:cNvPr id="190" name="Google Shape;190;p18">
            <a:extLst>
              <a:ext uri="{FF2B5EF4-FFF2-40B4-BE49-F238E27FC236}">
                <a16:creationId xmlns:a16="http://schemas.microsoft.com/office/drawing/2014/main" id="{BC024326-BD5F-8BBD-07DC-479AC2033A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91" name="Google Shape;191;p18">
            <a:extLst>
              <a:ext uri="{FF2B5EF4-FFF2-40B4-BE49-F238E27FC236}">
                <a16:creationId xmlns:a16="http://schemas.microsoft.com/office/drawing/2014/main" id="{E7155A0A-B8B7-07D3-9F22-E0F236613B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Screenshots</a:t>
            </a:r>
            <a:endParaRPr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35ED00B0-2F47-6970-884D-7ABB67C4EE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4FA43-8037-6069-EF79-F78D0BDBA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37615"/>
            <a:ext cx="7772400" cy="438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28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>
            <a:spLocks noGrp="1"/>
          </p:cNvSpPr>
          <p:nvPr>
            <p:ph type="body" idx="1"/>
          </p:nvPr>
        </p:nvSpPr>
        <p:spPr>
          <a:xfrm>
            <a:off x="838200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IN" sz="2700" b="1" dirty="0"/>
              <a:t>AI-Powered Recommendations:</a:t>
            </a:r>
            <a:r>
              <a:rPr lang="en-IN" sz="2700" dirty="0"/>
              <a:t> Implement Machine Learning algorithm to suggest jobs to candidates based on their skills and resume parsing.</a:t>
            </a:r>
          </a:p>
          <a:p>
            <a:pPr algn="just"/>
            <a:r>
              <a:rPr lang="en-IN" sz="2700" b="1" dirty="0"/>
              <a:t>Mobile Application:</a:t>
            </a:r>
            <a:r>
              <a:rPr lang="en-IN" sz="2700" dirty="0"/>
              <a:t> Develop a cross-platform mobile app using </a:t>
            </a:r>
            <a:r>
              <a:rPr lang="en-IN" sz="2700" b="1" dirty="0"/>
              <a:t>React Native</a:t>
            </a:r>
            <a:r>
              <a:rPr lang="en-IN" sz="2700" dirty="0"/>
              <a:t> to increase accessibility for users on the go.</a:t>
            </a:r>
          </a:p>
          <a:p>
            <a:pPr algn="just"/>
            <a:r>
              <a:rPr lang="en-IN" sz="2700" b="1" dirty="0"/>
              <a:t>Video Interview Integration:</a:t>
            </a:r>
            <a:r>
              <a:rPr lang="en-IN" sz="2700" dirty="0"/>
              <a:t> Add built-in video conferencing features to allow recruiters to conduct interviews directly within the platform.</a:t>
            </a:r>
          </a:p>
          <a:p>
            <a:pPr algn="just"/>
            <a:r>
              <a:rPr lang="en-IN" sz="2700" b="1" dirty="0"/>
              <a:t>Advanced Analytics:</a:t>
            </a:r>
            <a:r>
              <a:rPr lang="en-IN" sz="2700" dirty="0"/>
              <a:t> Provide recruiters with detailed dashboards showing application trends, candidate demographics, and hiring metrics.</a:t>
            </a:r>
          </a:p>
          <a:p>
            <a:pPr algn="just"/>
            <a:r>
              <a:rPr lang="en-IN" sz="2700" b="1" dirty="0"/>
              <a:t>Social &amp; Professional Integration:</a:t>
            </a:r>
            <a:r>
              <a:rPr lang="en-IN" sz="2700" dirty="0"/>
              <a:t> Enable "Apply with LinkedIn" and direct sharing of job posts to social media platforms.</a:t>
            </a:r>
          </a:p>
        </p:txBody>
      </p:sp>
      <p:sp>
        <p:nvSpPr>
          <p:cNvPr id="217" name="Google Shape;21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18" name="Google Shape;218;p21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Future Scope</a:t>
            </a:r>
            <a:endParaRPr dirty="0"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E854B003-E3F1-FF11-E8B5-B4063DE0469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IN" sz="3600" b="1" dirty="0"/>
              <a:t>Project Summary:</a:t>
            </a:r>
            <a:r>
              <a:rPr lang="en-IN" sz="3600" dirty="0"/>
              <a:t> </a:t>
            </a:r>
          </a:p>
          <a:p>
            <a:pPr lvl="1" algn="just"/>
            <a:r>
              <a:rPr lang="en-IN" sz="3200" dirty="0" err="1"/>
              <a:t>Hiristiq</a:t>
            </a:r>
            <a:r>
              <a:rPr lang="en-IN" sz="3200" dirty="0"/>
              <a:t> successfully demonstrates a modern, scalable, and secure job portal built with the MERN stack.</a:t>
            </a:r>
          </a:p>
          <a:p>
            <a:pPr marL="114300" indent="0" algn="just">
              <a:buNone/>
            </a:pPr>
            <a:endParaRPr lang="en-IN" sz="3600" b="1" dirty="0"/>
          </a:p>
          <a:p>
            <a:pPr marL="114300" indent="0" algn="just">
              <a:buNone/>
            </a:pPr>
            <a:r>
              <a:rPr lang="en-IN" sz="3600" dirty="0"/>
              <a:t>We are now open to any questions regarding the architecture, design choices, or implementation details.</a:t>
            </a:r>
          </a:p>
        </p:txBody>
      </p:sp>
      <p:sp>
        <p:nvSpPr>
          <p:cNvPr id="226" name="Google Shape;22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Questions</a:t>
            </a:r>
            <a:endParaRPr dirty="0"/>
          </a:p>
        </p:txBody>
      </p:sp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3DB469A9-8AA6-0E21-1365-72D22D3CF5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>
            <a:spLocks noGrp="1"/>
          </p:cNvSpPr>
          <p:nvPr>
            <p:ph type="title"/>
          </p:nvPr>
        </p:nvSpPr>
        <p:spPr>
          <a:xfrm>
            <a:off x="2489750" y="1243800"/>
            <a:ext cx="5855400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8800" dirty="0"/>
              <a:t>Thank You!</a:t>
            </a:r>
            <a:endParaRPr sz="8800" dirty="0"/>
          </a:p>
        </p:txBody>
      </p:sp>
      <p:sp>
        <p:nvSpPr>
          <p:cNvPr id="234" name="Google Shape;23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0" y="0"/>
            <a:ext cx="12192001" cy="685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598" y="14626"/>
                </a:moveTo>
                <a:cubicBezTo>
                  <a:pt x="21593" y="14630"/>
                  <a:pt x="21591" y="14630"/>
                  <a:pt x="21587" y="14634"/>
                </a:cubicBezTo>
                <a:lnTo>
                  <a:pt x="17103" y="17452"/>
                </a:lnTo>
                <a:cubicBezTo>
                  <a:pt x="16767" y="17663"/>
                  <a:pt x="16424" y="17165"/>
                  <a:pt x="16473" y="16540"/>
                </a:cubicBezTo>
                <a:lnTo>
                  <a:pt x="16865" y="11449"/>
                </a:lnTo>
                <a:cubicBezTo>
                  <a:pt x="16899" y="11011"/>
                  <a:pt x="17118" y="10693"/>
                  <a:pt x="17367" y="10720"/>
                </a:cubicBezTo>
                <a:lnTo>
                  <a:pt x="21600" y="11198"/>
                </a:lnTo>
                <a:lnTo>
                  <a:pt x="21600" y="9502"/>
                </a:lnTo>
                <a:lnTo>
                  <a:pt x="17566" y="9048"/>
                </a:lnTo>
                <a:cubicBezTo>
                  <a:pt x="17291" y="9017"/>
                  <a:pt x="17087" y="8575"/>
                  <a:pt x="17125" y="8089"/>
                </a:cubicBezTo>
                <a:lnTo>
                  <a:pt x="17710" y="498"/>
                </a:lnTo>
                <a:cubicBezTo>
                  <a:pt x="17723" y="322"/>
                  <a:pt x="17705" y="151"/>
                  <a:pt x="17663" y="4"/>
                </a:cubicBezTo>
                <a:lnTo>
                  <a:pt x="16811" y="4"/>
                </a:lnTo>
                <a:cubicBezTo>
                  <a:pt x="16789" y="84"/>
                  <a:pt x="16773" y="175"/>
                  <a:pt x="16764" y="267"/>
                </a:cubicBezTo>
                <a:lnTo>
                  <a:pt x="16160" y="8105"/>
                </a:lnTo>
                <a:cubicBezTo>
                  <a:pt x="16126" y="8543"/>
                  <a:pt x="15907" y="8861"/>
                  <a:pt x="15658" y="8833"/>
                </a:cubicBezTo>
                <a:lnTo>
                  <a:pt x="3055" y="7412"/>
                </a:lnTo>
                <a:cubicBezTo>
                  <a:pt x="2853" y="7388"/>
                  <a:pt x="2681" y="7142"/>
                  <a:pt x="2627" y="6795"/>
                </a:cubicBezTo>
                <a:lnTo>
                  <a:pt x="1559" y="0"/>
                </a:lnTo>
                <a:lnTo>
                  <a:pt x="641" y="0"/>
                </a:lnTo>
                <a:cubicBezTo>
                  <a:pt x="618" y="143"/>
                  <a:pt x="618" y="299"/>
                  <a:pt x="641" y="450"/>
                </a:cubicBezTo>
                <a:lnTo>
                  <a:pt x="1530" y="6115"/>
                </a:lnTo>
                <a:cubicBezTo>
                  <a:pt x="1617" y="6676"/>
                  <a:pt x="1368" y="7225"/>
                  <a:pt x="1041" y="7185"/>
                </a:cubicBezTo>
                <a:lnTo>
                  <a:pt x="0" y="7066"/>
                </a:lnTo>
                <a:lnTo>
                  <a:pt x="0" y="8762"/>
                </a:lnTo>
                <a:lnTo>
                  <a:pt x="1646" y="8949"/>
                </a:lnTo>
                <a:cubicBezTo>
                  <a:pt x="1848" y="8973"/>
                  <a:pt x="2020" y="9220"/>
                  <a:pt x="2074" y="9566"/>
                </a:cubicBezTo>
                <a:lnTo>
                  <a:pt x="3964" y="21600"/>
                </a:lnTo>
                <a:lnTo>
                  <a:pt x="4894" y="21600"/>
                </a:lnTo>
                <a:cubicBezTo>
                  <a:pt x="4910" y="21469"/>
                  <a:pt x="4910" y="21325"/>
                  <a:pt x="4887" y="21186"/>
                </a:cubicBezTo>
                <a:lnTo>
                  <a:pt x="3169" y="10247"/>
                </a:lnTo>
                <a:cubicBezTo>
                  <a:pt x="3082" y="9685"/>
                  <a:pt x="3330" y="9136"/>
                  <a:pt x="3657" y="9176"/>
                </a:cubicBezTo>
                <a:lnTo>
                  <a:pt x="15459" y="10505"/>
                </a:lnTo>
                <a:cubicBezTo>
                  <a:pt x="15734" y="10537"/>
                  <a:pt x="15938" y="10979"/>
                  <a:pt x="15900" y="11465"/>
                </a:cubicBezTo>
                <a:lnTo>
                  <a:pt x="15394" y="18037"/>
                </a:lnTo>
                <a:cubicBezTo>
                  <a:pt x="15369" y="18352"/>
                  <a:pt x="15248" y="18614"/>
                  <a:pt x="15080" y="18722"/>
                </a:cubicBezTo>
                <a:lnTo>
                  <a:pt x="10502" y="21600"/>
                </a:lnTo>
                <a:lnTo>
                  <a:pt x="13358" y="21600"/>
                </a:lnTo>
                <a:lnTo>
                  <a:pt x="14471" y="20899"/>
                </a:lnTo>
                <a:cubicBezTo>
                  <a:pt x="14769" y="20712"/>
                  <a:pt x="15069" y="21079"/>
                  <a:pt x="15103" y="21600"/>
                </a:cubicBezTo>
                <a:lnTo>
                  <a:pt x="16079" y="21600"/>
                </a:lnTo>
                <a:lnTo>
                  <a:pt x="16178" y="20314"/>
                </a:lnTo>
                <a:cubicBezTo>
                  <a:pt x="16202" y="20000"/>
                  <a:pt x="16323" y="19737"/>
                  <a:pt x="16491" y="19629"/>
                </a:cubicBezTo>
                <a:lnTo>
                  <a:pt x="21596" y="16421"/>
                </a:lnTo>
                <a:lnTo>
                  <a:pt x="21596" y="14626"/>
                </a:lnTo>
                <a:close/>
              </a:path>
            </a:pathLst>
          </a:custGeom>
          <a:gradFill>
            <a:gsLst>
              <a:gs pos="0">
                <a:srgbClr val="76CEEF"/>
              </a:gs>
              <a:gs pos="100000">
                <a:srgbClr val="1C629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17500" dist="190500" dir="5400000" algn="t" rotWithShape="0">
              <a:srgbClr val="124163">
                <a:alpha val="20000"/>
              </a:srgbClr>
            </a:outerShdw>
          </a:effectLst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>
            <a:spLocks noGrp="1"/>
          </p:cNvSpPr>
          <p:nvPr>
            <p:ph type="body" idx="4294967295"/>
          </p:nvPr>
        </p:nvSpPr>
        <p:spPr>
          <a:xfrm>
            <a:off x="2489750" y="4539750"/>
            <a:ext cx="42672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5250" lvl="0" indent="0">
              <a:spcBef>
                <a:spcPts val="0"/>
              </a:spcBef>
              <a:buSzPts val="2100"/>
              <a:buNone/>
            </a:pPr>
            <a:r>
              <a:rPr lang="en-US" b="1" dirty="0"/>
              <a:t>Team Member:</a:t>
            </a:r>
          </a:p>
          <a:p>
            <a:pPr lvl="0" indent="-361950">
              <a:spcBef>
                <a:spcPts val="0"/>
              </a:spcBef>
              <a:buSzPts val="2100"/>
            </a:pPr>
            <a:r>
              <a:rPr lang="en-US" dirty="0"/>
              <a:t>Jayesh Muley</a:t>
            </a:r>
          </a:p>
        </p:txBody>
      </p:sp>
      <p:sp>
        <p:nvSpPr>
          <p:cNvPr id="2" name="Google Shape;117;p10">
            <a:extLst>
              <a:ext uri="{FF2B5EF4-FFF2-40B4-BE49-F238E27FC236}">
                <a16:creationId xmlns:a16="http://schemas.microsoft.com/office/drawing/2014/main" id="{DA44C85C-E8D6-528F-B784-7377EE245A4B}"/>
              </a:ext>
            </a:extLst>
          </p:cNvPr>
          <p:cNvSpPr txBox="1">
            <a:spLocks/>
          </p:cNvSpPr>
          <p:nvPr/>
        </p:nvSpPr>
        <p:spPr>
          <a:xfrm>
            <a:off x="1085507" y="3429000"/>
            <a:ext cx="7588500" cy="941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SzPts val="1200"/>
              <a:buFont typeface="Arial"/>
              <a:buNone/>
            </a:pPr>
            <a:r>
              <a:rPr lang="en-US" sz="3500" b="1"/>
              <a:t>Team Name: </a:t>
            </a:r>
            <a:r>
              <a:rPr lang="en-US" sz="3500" i="1"/>
              <a:t>Bit-Manipulator</a:t>
            </a:r>
            <a:endParaRPr lang="en-US" sz="3500" i="1" dirty="0"/>
          </a:p>
        </p:txBody>
      </p:sp>
      <p:pic>
        <p:nvPicPr>
          <p:cNvPr id="3" name="Picture 4" descr="Github Logo - Free social media icons">
            <a:hlinkClick r:id="rId3"/>
            <a:extLst>
              <a:ext uri="{FF2B5EF4-FFF2-40B4-BE49-F238E27FC236}">
                <a16:creationId xmlns:a16="http://schemas.microsoft.com/office/drawing/2014/main" id="{E75ABAAC-71F0-FC7A-16D4-E17A75F62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91" y="5499643"/>
            <a:ext cx="676059" cy="67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4">
            <a:hlinkClick r:id="rId5"/>
            <a:extLst>
              <a:ext uri="{FF2B5EF4-FFF2-40B4-BE49-F238E27FC236}">
                <a16:creationId xmlns:a16="http://schemas.microsoft.com/office/drawing/2014/main" id="{998C5040-B6A5-75CD-C729-51E7D3303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034" y="5499642"/>
            <a:ext cx="676059" cy="67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hlinkClick r:id="rId7"/>
            <a:extLst>
              <a:ext uri="{FF2B5EF4-FFF2-40B4-BE49-F238E27FC236}">
                <a16:creationId xmlns:a16="http://schemas.microsoft.com/office/drawing/2014/main" id="{D1C25044-9B06-85F7-DD80-519B93C272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7525" y="5262781"/>
            <a:ext cx="1072627" cy="10726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>
            <a:spLocks noGrp="1"/>
          </p:cNvSpPr>
          <p:nvPr>
            <p:ph type="body" idx="1"/>
          </p:nvPr>
        </p:nvSpPr>
        <p:spPr>
          <a:xfrm>
            <a:off x="838200" y="149432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000" b="1" dirty="0"/>
              <a:t>Website Link: </a:t>
            </a:r>
            <a:r>
              <a:rPr lang="en-IN" sz="2000" b="1" dirty="0">
                <a:hlinkClick r:id="rId3"/>
              </a:rPr>
              <a:t>https://hiristic.vercel.app</a:t>
            </a:r>
            <a:endParaRPr lang="en-IN" sz="2000" b="1" dirty="0"/>
          </a:p>
          <a:p>
            <a:r>
              <a:rPr lang="en-IN" sz="2000" b="1" dirty="0"/>
              <a:t>GitHub Repo Link: </a:t>
            </a:r>
            <a:r>
              <a:rPr lang="en-IN" sz="2000" b="1" dirty="0">
                <a:hlinkClick r:id="rId4"/>
              </a:rPr>
              <a:t>https://</a:t>
            </a:r>
            <a:r>
              <a:rPr lang="en-IN" sz="2000" b="1" dirty="0" err="1">
                <a:hlinkClick r:id="rId4"/>
              </a:rPr>
              <a:t>github.com</a:t>
            </a:r>
            <a:r>
              <a:rPr lang="en-IN" sz="2000" b="1" dirty="0">
                <a:hlinkClick r:id="rId4"/>
              </a:rPr>
              <a:t>/jayesh3103/</a:t>
            </a:r>
            <a:r>
              <a:rPr lang="en-IN" sz="2000" b="1" dirty="0" err="1">
                <a:hlinkClick r:id="rId4"/>
              </a:rPr>
              <a:t>Ethnus_Certification_Project</a:t>
            </a:r>
            <a:endParaRPr lang="en-IN" sz="2000" b="1" dirty="0"/>
          </a:p>
          <a:p>
            <a:r>
              <a:rPr lang="en-IN" sz="2000" b="1" dirty="0"/>
              <a:t>Scenario 1: The Recruiter's Journey</a:t>
            </a:r>
            <a:endParaRPr lang="en-IN" sz="2000" dirty="0"/>
          </a:p>
          <a:p>
            <a:pPr lvl="1"/>
            <a:r>
              <a:rPr lang="en-IN" sz="1800" b="1" dirty="0"/>
              <a:t>Action:</a:t>
            </a:r>
            <a:r>
              <a:rPr lang="en-IN" sz="1800" dirty="0"/>
              <a:t> Log in as a Recruiter.</a:t>
            </a:r>
          </a:p>
          <a:p>
            <a:pPr lvl="1"/>
            <a:r>
              <a:rPr lang="en-IN" sz="1800" b="1" dirty="0"/>
              <a:t>Demo:</a:t>
            </a:r>
            <a:r>
              <a:rPr lang="en-IN" sz="1800" dirty="0"/>
              <a:t> Create a new job post (e.g., "Senior React Developer") and view the "My Jobs" dashboard.</a:t>
            </a:r>
          </a:p>
          <a:p>
            <a:r>
              <a:rPr lang="en-IN" sz="2000" b="1" dirty="0"/>
              <a:t>Scenario 2: The Candidate's Application</a:t>
            </a:r>
            <a:endParaRPr lang="en-IN" sz="2000" dirty="0"/>
          </a:p>
          <a:p>
            <a:pPr lvl="1"/>
            <a:r>
              <a:rPr lang="en-IN" sz="1800" b="1" dirty="0"/>
              <a:t>Action:</a:t>
            </a:r>
            <a:r>
              <a:rPr lang="en-IN" sz="1800" dirty="0"/>
              <a:t> Log in as a Candidate.</a:t>
            </a:r>
          </a:p>
          <a:p>
            <a:pPr lvl="1"/>
            <a:r>
              <a:rPr lang="en-IN" sz="1800" b="1" dirty="0"/>
              <a:t>Demo:</a:t>
            </a:r>
            <a:r>
              <a:rPr lang="en-IN" sz="1800" dirty="0"/>
              <a:t> Search for the newly posted job, filter by location, and submit an application with a resume.</a:t>
            </a:r>
          </a:p>
          <a:p>
            <a:r>
              <a:rPr lang="en-IN" sz="2000" b="1" dirty="0"/>
              <a:t>Scenario 3: Closing the Loop</a:t>
            </a:r>
            <a:endParaRPr lang="en-IN" sz="2000" dirty="0"/>
          </a:p>
          <a:p>
            <a:pPr lvl="1"/>
            <a:r>
              <a:rPr lang="en-IN" sz="1800" b="1" dirty="0"/>
              <a:t>Action:</a:t>
            </a:r>
            <a:r>
              <a:rPr lang="en-IN" sz="1800" dirty="0"/>
              <a:t> Switch back to Recruiter view.</a:t>
            </a:r>
          </a:p>
          <a:p>
            <a:pPr lvl="1"/>
            <a:r>
              <a:rPr lang="en-IN" sz="1800" b="1" dirty="0"/>
              <a:t>Demo:</a:t>
            </a:r>
            <a:r>
              <a:rPr lang="en-IN" sz="1800" dirty="0"/>
              <a:t> Open "Applications", see the new candidate, and change status to "Accepted".</a:t>
            </a:r>
          </a:p>
        </p:txBody>
      </p:sp>
      <p:sp>
        <p:nvSpPr>
          <p:cNvPr id="245" name="Google Shape;24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089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46" name="Google Shape;246;p24"/>
          <p:cNvSpPr txBox="1">
            <a:spLocks noGrp="1"/>
          </p:cNvSpPr>
          <p:nvPr>
            <p:ph type="title"/>
          </p:nvPr>
        </p:nvSpPr>
        <p:spPr>
          <a:xfrm>
            <a:off x="457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Live Demo</a:t>
            </a:r>
            <a:endParaRPr/>
          </a:p>
        </p:txBody>
      </p:sp>
      <p:sp>
        <p:nvSpPr>
          <p:cNvPr id="3" name="Google Shape;126;p11">
            <a:extLst>
              <a:ext uri="{FF2B5EF4-FFF2-40B4-BE49-F238E27FC236}">
                <a16:creationId xmlns:a16="http://schemas.microsoft.com/office/drawing/2014/main" id="{7180ED8B-EA94-C541-22C3-12C951AA58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Hiristiq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GO">
  <a:themeElements>
    <a:clrScheme name="PGO - Blue Web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Microsoft Macintosh PowerPoint</Application>
  <PresentationFormat>Widescreen</PresentationFormat>
  <Paragraphs>216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PresentationGO</vt:lpstr>
      <vt:lpstr>Job Board: Hiristiq</vt:lpstr>
      <vt:lpstr>Introduction</vt:lpstr>
      <vt:lpstr>Project Objectives</vt:lpstr>
      <vt:lpstr>Project Scope</vt:lpstr>
      <vt:lpstr>Individual Contributions</vt:lpstr>
      <vt:lpstr>Key Concepts</vt:lpstr>
      <vt:lpstr>Challenges and Solutions</vt:lpstr>
      <vt:lpstr>Lessons Learned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Future Scope</vt:lpstr>
      <vt:lpstr>Questions</vt:lpstr>
      <vt:lpstr>Thank You!</vt:lpstr>
      <vt:lpstr>Live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Jayesh Muley</cp:lastModifiedBy>
  <cp:revision>1</cp:revision>
  <dcterms:modified xsi:type="dcterms:W3CDTF">2025-12-23T07:18:01Z</dcterms:modified>
</cp:coreProperties>
</file>